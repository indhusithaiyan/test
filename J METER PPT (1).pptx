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84" r:id="rId18"/>
    <p:sldId id="269" r:id="rId19"/>
    <p:sldId id="270" r:id="rId20"/>
    <p:sldId id="271" r:id="rId21"/>
    <p:sldId id="272" r:id="rId22"/>
    <p:sldId id="273" r:id="rId23"/>
    <p:sldId id="274" r:id="rId24"/>
    <p:sldId id="275" r:id="rId25"/>
    <p:sldId id="276" r:id="rId26"/>
    <p:sldId id="278" r:id="rId27"/>
    <p:sldId id="279" r:id="rId28"/>
    <p:sldId id="285" r:id="rId29"/>
    <p:sldId id="280" r:id="rId30"/>
    <p:sldId id="281" r:id="rId31"/>
    <p:sldId id="286" r:id="rId32"/>
    <p:sldId id="282" r:id="rId33"/>
    <p:sldId id="287" r:id="rId34"/>
    <p:sldId id="288" r:id="rId35"/>
    <p:sldId id="283"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D25D040-36BF-4FA4-A8D0-7C2031C9B758}" type="datetimeFigureOut">
              <a:rPr lang="en-US" smtClean="0"/>
              <a:t>4/4/2022</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2701401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D25D040-36BF-4FA4-A8D0-7C2031C9B758}" type="datetimeFigureOut">
              <a:rPr lang="en-US" smtClean="0"/>
              <a:t>4/4/2022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63675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D25D040-36BF-4FA4-A8D0-7C2031C9B758}" type="datetimeFigureOut">
              <a:rPr lang="en-US" smtClean="0"/>
              <a:t>4/4/2022</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694322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D25D040-36BF-4FA4-A8D0-7C2031C9B758}" type="datetimeFigureOut">
              <a:rPr lang="en-US" smtClean="0"/>
              <a:t>4/4/2022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958915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D25D040-36BF-4FA4-A8D0-7C2031C9B758}" type="datetimeFigureOut">
              <a:rPr lang="en-US" smtClean="0"/>
              <a:t>4/4/2022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630140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D25D040-36BF-4FA4-A8D0-7C2031C9B758}" type="datetimeFigureOut">
              <a:rPr lang="en-US" smtClean="0"/>
              <a:t>4/4/2022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1297078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25D040-36BF-4FA4-A8D0-7C2031C9B758}" type="datetimeFigureOut">
              <a:rPr lang="en-US" smtClean="0"/>
              <a:t>4/4/2022</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2920833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D25D040-36BF-4FA4-A8D0-7C2031C9B758}" type="datetimeFigureOut">
              <a:rPr lang="en-US" smtClean="0"/>
              <a:t>4/4/2022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128209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D25D040-36BF-4FA4-A8D0-7C2031C9B758}" type="datetimeFigureOut">
              <a:rPr lang="en-US" smtClean="0"/>
              <a:t>4/4/2022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2033925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D25D040-36BF-4FA4-A8D0-7C2031C9B758}" type="datetimeFigureOut">
              <a:rPr lang="en-US" smtClean="0"/>
              <a:t>4/4/2022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2789094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ED25D040-36BF-4FA4-A8D0-7C2031C9B758}" type="datetimeFigureOut">
              <a:rPr lang="en-US" smtClean="0"/>
              <a:t>4/4/2022</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242444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ED25D040-36BF-4FA4-A8D0-7C2031C9B758}" type="datetimeFigureOut">
              <a:rPr lang="en-US" smtClean="0"/>
              <a:t>4/4/2022</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1813771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D25D040-36BF-4FA4-A8D0-7C2031C9B758}" type="datetimeFigureOut">
              <a:rPr lang="en-US" smtClean="0"/>
              <a:t>4/4/2022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3801400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D25D040-36BF-4FA4-A8D0-7C2031C9B758}" type="datetimeFigureOut">
              <a:rPr lang="en-US" smtClean="0"/>
              <a:t>4/4/2022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41396062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D25D040-36BF-4FA4-A8D0-7C2031C9B758}" type="datetimeFigureOut">
              <a:rPr lang="en-US" smtClean="0"/>
              <a:t>4/4/2022</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6524141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D25D040-36BF-4FA4-A8D0-7C2031C9B758}" type="datetimeFigureOut">
              <a:rPr lang="en-US" smtClean="0"/>
              <a:t>4/4/2022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31290633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D25D040-36BF-4FA4-A8D0-7C2031C9B758}" type="datetimeFigureOut">
              <a:rPr lang="en-US" smtClean="0"/>
              <a:t>4/4/2022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8E6624-6ECE-460E-BA45-24E0C7D34662}" type="slidenum">
              <a:rPr lang="en-US" smtClean="0"/>
              <a:t>‹#›</a:t>
            </a:fld>
            <a:endParaRPr lang="en-US"/>
          </a:p>
        </p:txBody>
      </p:sp>
    </p:spTree>
    <p:extLst>
      <p:ext uri="{BB962C8B-B14F-4D97-AF65-F5344CB8AC3E}">
        <p14:creationId xmlns:p14="http://schemas.microsoft.com/office/powerpoint/2010/main" val="776179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D25D040-36BF-4FA4-A8D0-7C2031C9B758}" type="datetimeFigureOut">
              <a:rPr lang="en-US" smtClean="0"/>
              <a:t>4/4/2022</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78E6624-6ECE-460E-BA45-24E0C7D34662}" type="slidenum">
              <a:rPr lang="en-US" smtClean="0"/>
              <a:t>‹#›</a:t>
            </a:fld>
            <a:endParaRPr lang="en-US"/>
          </a:p>
        </p:txBody>
      </p:sp>
    </p:spTree>
    <p:extLst>
      <p:ext uri="{BB962C8B-B14F-4D97-AF65-F5344CB8AC3E}">
        <p14:creationId xmlns:p14="http://schemas.microsoft.com/office/powerpoint/2010/main" val="753246954"/>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b="1" dirty="0" smtClean="0">
                <a:solidFill>
                  <a:srgbClr val="FF0000"/>
                </a:solidFill>
              </a:rPr>
              <a:t> </a:t>
            </a:r>
            <a:r>
              <a:rPr lang="en-US" sz="6000" b="1" dirty="0" smtClean="0">
                <a:solidFill>
                  <a:srgbClr val="FF0000"/>
                </a:solidFill>
              </a:rPr>
              <a:t>J METER</a:t>
            </a:r>
            <a:endParaRPr lang="en-US" sz="6000" b="1" dirty="0">
              <a:solidFill>
                <a:srgbClr val="FF0000"/>
              </a:solidFill>
            </a:endParaRPr>
          </a:p>
        </p:txBody>
      </p:sp>
      <p:sp>
        <p:nvSpPr>
          <p:cNvPr id="3" name="Subtitle 2"/>
          <p:cNvSpPr>
            <a:spLocks noGrp="1"/>
          </p:cNvSpPr>
          <p:nvPr>
            <p:ph type="subTitle" idx="1"/>
          </p:nvPr>
        </p:nvSpPr>
        <p:spPr>
          <a:xfrm>
            <a:off x="1524000" y="845127"/>
            <a:ext cx="9199418" cy="4412673"/>
          </a:xfrm>
        </p:spPr>
        <p:txBody>
          <a:bodyPr>
            <a:noAutofit/>
          </a:bodyPr>
          <a:lstStyle/>
          <a:p>
            <a:r>
              <a:rPr lang="en-US" sz="3200" b="1" dirty="0" smtClean="0">
                <a:solidFill>
                  <a:srgbClr val="FF0000"/>
                </a:solidFill>
              </a:rPr>
              <a:t> </a:t>
            </a:r>
            <a:endParaRPr lang="en-US" sz="3200" b="1" dirty="0">
              <a:solidFill>
                <a:srgbClr val="FF0000"/>
              </a:solidFill>
            </a:endParaRPr>
          </a:p>
        </p:txBody>
      </p:sp>
    </p:spTree>
    <p:extLst>
      <p:ext uri="{BB962C8B-B14F-4D97-AF65-F5344CB8AC3E}">
        <p14:creationId xmlns:p14="http://schemas.microsoft.com/office/powerpoint/2010/main" val="12336570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p:txBody>
          <a:bodyPr/>
          <a:lstStyle/>
          <a:p>
            <a:pPr marL="514350" indent="-514350">
              <a:buFont typeface="+mj-lt"/>
              <a:buAutoNum type="arabicParenR"/>
            </a:pPr>
            <a:r>
              <a:rPr lang="en-US" b="1" dirty="0" smtClean="0">
                <a:solidFill>
                  <a:srgbClr val="FF0000"/>
                </a:solidFill>
              </a:rPr>
              <a:t>J METER</a:t>
            </a:r>
          </a:p>
          <a:p>
            <a:pPr marL="514350" indent="-514350">
              <a:buFont typeface="+mj-lt"/>
              <a:buAutoNum type="arabicParenR"/>
            </a:pPr>
            <a:r>
              <a:rPr lang="en-US" b="1" dirty="0" smtClean="0">
                <a:solidFill>
                  <a:srgbClr val="FF0000"/>
                </a:solidFill>
              </a:rPr>
              <a:t>PROTOCOLS</a:t>
            </a:r>
          </a:p>
          <a:p>
            <a:pPr marL="514350" indent="-514350">
              <a:buFont typeface="+mj-lt"/>
              <a:buAutoNum type="arabicParenR"/>
            </a:pPr>
            <a:r>
              <a:rPr lang="en-US" b="1" dirty="0" smtClean="0">
                <a:solidFill>
                  <a:srgbClr val="FF0000"/>
                </a:solidFill>
              </a:rPr>
              <a:t>FEATURES OF J METER</a:t>
            </a:r>
          </a:p>
          <a:p>
            <a:pPr marL="514350" indent="-514350">
              <a:buFont typeface="+mj-lt"/>
              <a:buAutoNum type="arabicParenR"/>
            </a:pPr>
            <a:r>
              <a:rPr lang="en-US" b="1" dirty="0" smtClean="0">
                <a:solidFill>
                  <a:srgbClr val="FF0000"/>
                </a:solidFill>
              </a:rPr>
              <a:t>HOW J METER WORKS</a:t>
            </a:r>
          </a:p>
          <a:p>
            <a:pPr marL="514350" indent="-514350">
              <a:buFont typeface="+mj-lt"/>
              <a:buAutoNum type="arabicParenR"/>
            </a:pPr>
            <a:r>
              <a:rPr lang="en-US" b="1" dirty="0" smtClean="0">
                <a:solidFill>
                  <a:srgbClr val="FF0000"/>
                </a:solidFill>
              </a:rPr>
              <a:t>INSTALLATION OF JMETER</a:t>
            </a:r>
          </a:p>
          <a:p>
            <a:pPr marL="514350" indent="-514350">
              <a:buFont typeface="+mj-lt"/>
              <a:buAutoNum type="arabicParenR"/>
            </a:pPr>
            <a:r>
              <a:rPr lang="en-US" b="1" dirty="0" smtClean="0">
                <a:solidFill>
                  <a:srgbClr val="FF0000"/>
                </a:solidFill>
              </a:rPr>
              <a:t>ELEMENTS OF J METER</a:t>
            </a:r>
            <a:endParaRPr lang="en-US" b="1" dirty="0">
              <a:solidFill>
                <a:srgbClr val="FF0000"/>
              </a:solidFill>
            </a:endParaRPr>
          </a:p>
        </p:txBody>
      </p:sp>
    </p:spTree>
    <p:extLst>
      <p:ext uri="{BB962C8B-B14F-4D97-AF65-F5344CB8AC3E}">
        <p14:creationId xmlns:p14="http://schemas.microsoft.com/office/powerpoint/2010/main" val="13361622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 METER</a:t>
            </a:r>
            <a:endParaRPr lang="en-US" dirty="0"/>
          </a:p>
        </p:txBody>
      </p:sp>
      <p:sp>
        <p:nvSpPr>
          <p:cNvPr id="3" name="Content Placeholder 2"/>
          <p:cNvSpPr>
            <a:spLocks noGrp="1"/>
          </p:cNvSpPr>
          <p:nvPr>
            <p:ph idx="1"/>
          </p:nvPr>
        </p:nvSpPr>
        <p:spPr/>
        <p:txBody>
          <a:bodyPr/>
          <a:lstStyle/>
          <a:p>
            <a:r>
              <a:rPr lang="en-US" b="1" dirty="0" smtClean="0"/>
              <a:t>J Meter </a:t>
            </a:r>
            <a:r>
              <a:rPr lang="en-US" b="1" dirty="0"/>
              <a:t>is a software that can perform load test, performance-oriented business (functional) test, regression test, etc., on different protocols or technologies.</a:t>
            </a:r>
          </a:p>
          <a:p>
            <a:r>
              <a:rPr lang="en-US" b="1" dirty="0"/>
              <a:t>Stefano Mazzocchi of the Apache Software Foundation was the original developer of JMeter. He wrote it primarily to test the performance of Apache JServ (now called as Apache Tomcat project). Apache later redesigned JMeter to enhance the GUI and to add functional testing capabilities.</a:t>
            </a:r>
          </a:p>
          <a:p>
            <a:endParaRPr lang="en-US" dirty="0"/>
          </a:p>
        </p:txBody>
      </p:sp>
    </p:spTree>
    <p:extLst>
      <p:ext uri="{BB962C8B-B14F-4D97-AF65-F5344CB8AC3E}">
        <p14:creationId xmlns:p14="http://schemas.microsoft.com/office/powerpoint/2010/main" val="29397711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 METER</a:t>
            </a:r>
            <a:endParaRPr lang="en-US" dirty="0"/>
          </a:p>
        </p:txBody>
      </p:sp>
      <p:sp>
        <p:nvSpPr>
          <p:cNvPr id="3" name="Content Placeholder 2"/>
          <p:cNvSpPr>
            <a:spLocks noGrp="1"/>
          </p:cNvSpPr>
          <p:nvPr>
            <p:ph idx="1"/>
          </p:nvPr>
        </p:nvSpPr>
        <p:spPr/>
        <p:txBody>
          <a:bodyPr/>
          <a:lstStyle/>
          <a:p>
            <a:r>
              <a:rPr lang="en-US" b="1" dirty="0"/>
              <a:t>JMeter is a Java desktop application with a graphical interface that uses the Swing graphical API. It can therefore run on any environment / workstation that accepts a Java virtual machine, for example − Windows, Linux, Mac, etc.</a:t>
            </a:r>
          </a:p>
        </p:txBody>
      </p:sp>
    </p:spTree>
    <p:extLst>
      <p:ext uri="{BB962C8B-B14F-4D97-AF65-F5344CB8AC3E}">
        <p14:creationId xmlns:p14="http://schemas.microsoft.com/office/powerpoint/2010/main" val="26021416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Protocols</a:t>
            </a:r>
            <a:endParaRPr lang="en-US" dirty="0"/>
          </a:p>
        </p:txBody>
      </p:sp>
      <p:sp>
        <p:nvSpPr>
          <p:cNvPr id="3" name="Content Placeholder 2"/>
          <p:cNvSpPr>
            <a:spLocks noGrp="1"/>
          </p:cNvSpPr>
          <p:nvPr>
            <p:ph idx="1"/>
          </p:nvPr>
        </p:nvSpPr>
        <p:spPr/>
        <p:txBody>
          <a:bodyPr>
            <a:normAutofit/>
          </a:bodyPr>
          <a:lstStyle/>
          <a:p>
            <a:pPr marL="0" indent="0">
              <a:buNone/>
            </a:pPr>
            <a:r>
              <a:rPr lang="en-US" b="1" dirty="0"/>
              <a:t>The protocols supported by JMeter are −</a:t>
            </a:r>
          </a:p>
          <a:p>
            <a:pPr lvl="0"/>
            <a:r>
              <a:rPr lang="en-US" b="1" dirty="0"/>
              <a:t>Web − HTTP, HTTPS sites 'web 1.0' web 2.0 (ajax, flex and flex-</a:t>
            </a:r>
            <a:r>
              <a:rPr lang="en-US" b="1" dirty="0" err="1"/>
              <a:t>ws</a:t>
            </a:r>
            <a:r>
              <a:rPr lang="en-US" b="1" dirty="0"/>
              <a:t>-</a:t>
            </a:r>
            <a:r>
              <a:rPr lang="en-US" b="1" dirty="0" err="1"/>
              <a:t>amf</a:t>
            </a:r>
            <a:r>
              <a:rPr lang="en-US" b="1" dirty="0"/>
              <a:t>)</a:t>
            </a:r>
          </a:p>
          <a:p>
            <a:pPr lvl="0"/>
            <a:r>
              <a:rPr lang="en-US" b="1" dirty="0"/>
              <a:t>Web Services − SOAP / </a:t>
            </a:r>
            <a:r>
              <a:rPr lang="en-US" b="1" dirty="0" smtClean="0"/>
              <a:t>XML</a:t>
            </a:r>
            <a:endParaRPr lang="en-US" b="1" dirty="0"/>
          </a:p>
          <a:p>
            <a:pPr lvl="0"/>
            <a:r>
              <a:rPr lang="en-US" b="1" dirty="0"/>
              <a:t>Database via JDBC drivers</a:t>
            </a:r>
          </a:p>
          <a:p>
            <a:pPr lvl="0"/>
            <a:r>
              <a:rPr lang="en-US" b="1" dirty="0"/>
              <a:t>Directory − LDAP</a:t>
            </a:r>
          </a:p>
          <a:p>
            <a:pPr lvl="0"/>
            <a:r>
              <a:rPr lang="en-US" b="1" dirty="0"/>
              <a:t>Messaging Oriented service via JMS</a:t>
            </a:r>
          </a:p>
          <a:p>
            <a:pPr lvl="0"/>
            <a:r>
              <a:rPr lang="en-US" b="1" dirty="0"/>
              <a:t>Service − POP3, IMAP, SMTP</a:t>
            </a:r>
          </a:p>
          <a:p>
            <a:pPr lvl="0"/>
            <a:r>
              <a:rPr lang="en-US" b="1" dirty="0"/>
              <a:t>FTP Service</a:t>
            </a:r>
          </a:p>
        </p:txBody>
      </p:sp>
    </p:spTree>
    <p:extLst>
      <p:ext uri="{BB962C8B-B14F-4D97-AF65-F5344CB8AC3E}">
        <p14:creationId xmlns:p14="http://schemas.microsoft.com/office/powerpoint/2010/main" val="29666884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 Meter </a:t>
            </a:r>
            <a:r>
              <a:rPr lang="en-US" dirty="0"/>
              <a:t>Features</a:t>
            </a:r>
          </a:p>
        </p:txBody>
      </p:sp>
      <p:sp>
        <p:nvSpPr>
          <p:cNvPr id="3" name="Content Placeholder 2"/>
          <p:cNvSpPr>
            <a:spLocks noGrp="1"/>
          </p:cNvSpPr>
          <p:nvPr>
            <p:ph idx="1"/>
          </p:nvPr>
        </p:nvSpPr>
        <p:spPr/>
        <p:txBody>
          <a:bodyPr>
            <a:normAutofit/>
          </a:bodyPr>
          <a:lstStyle/>
          <a:p>
            <a:pPr lvl="0"/>
            <a:r>
              <a:rPr lang="en-US" b="1" dirty="0" smtClean="0"/>
              <a:t>Being an open source software, it is freely available.</a:t>
            </a:r>
          </a:p>
          <a:p>
            <a:pPr lvl="0"/>
            <a:r>
              <a:rPr lang="en-US" b="1" dirty="0" smtClean="0"/>
              <a:t>It has a simple and intuitive GUI.</a:t>
            </a:r>
          </a:p>
          <a:p>
            <a:pPr lvl="0"/>
            <a:r>
              <a:rPr lang="en-US" b="1" dirty="0" smtClean="0"/>
              <a:t>J Meter can conduct load and performance test for many different server types − Web - HTTP, HTTPS, SOAP, Database via JDBC, LDAP, JMS, Mail - POP3, etc.</a:t>
            </a:r>
          </a:p>
          <a:p>
            <a:pPr lvl="0"/>
            <a:r>
              <a:rPr lang="en-US" b="1" dirty="0" smtClean="0"/>
              <a:t>It is a platform-independent tool. On Linux/Unix, J Meter can be invoked by clicking on J Meter shell script. On Windows, it can be invoked by starting the jmeter.bat file.</a:t>
            </a:r>
          </a:p>
          <a:p>
            <a:pPr lvl="0"/>
            <a:r>
              <a:rPr lang="en-US" b="1" dirty="0" smtClean="0"/>
              <a:t>It has full Swing and lightweight component support (precompiled JAR uses packages javax.swing.* ).</a:t>
            </a:r>
            <a:endParaRPr lang="en-US" b="1" dirty="0"/>
          </a:p>
        </p:txBody>
      </p:sp>
    </p:spTree>
    <p:extLst>
      <p:ext uri="{BB962C8B-B14F-4D97-AF65-F5344CB8AC3E}">
        <p14:creationId xmlns:p14="http://schemas.microsoft.com/office/powerpoint/2010/main" val="37136054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JMeter Features</a:t>
            </a:r>
            <a:endParaRPr lang="en-US" dirty="0"/>
          </a:p>
        </p:txBody>
      </p:sp>
      <p:sp>
        <p:nvSpPr>
          <p:cNvPr id="3" name="Content Placeholder 2"/>
          <p:cNvSpPr>
            <a:spLocks noGrp="1"/>
          </p:cNvSpPr>
          <p:nvPr>
            <p:ph idx="1"/>
          </p:nvPr>
        </p:nvSpPr>
        <p:spPr/>
        <p:txBody>
          <a:bodyPr/>
          <a:lstStyle/>
          <a:p>
            <a:pPr lvl="0"/>
            <a:r>
              <a:rPr lang="en-US" b="1" dirty="0" smtClean="0"/>
              <a:t>J Meter </a:t>
            </a:r>
            <a:r>
              <a:rPr lang="en-US" b="1" dirty="0"/>
              <a:t>store its test plans in XML format. This means you can generate a test plan using a text editor.</a:t>
            </a:r>
          </a:p>
          <a:p>
            <a:pPr lvl="0"/>
            <a:r>
              <a:rPr lang="en-US" b="1" dirty="0"/>
              <a:t>Its full multi-threading framework allows concurrent sampling by many threads and simultaneous sampling of different functions by separate thread groups.</a:t>
            </a:r>
          </a:p>
          <a:p>
            <a:pPr lvl="0"/>
            <a:r>
              <a:rPr lang="en-US" b="1" dirty="0"/>
              <a:t>It is highly extensible.</a:t>
            </a:r>
          </a:p>
          <a:p>
            <a:r>
              <a:rPr lang="en-US" b="1" dirty="0"/>
              <a:t>It can also be used to perform automated and functional testing of the applications</a:t>
            </a:r>
          </a:p>
        </p:txBody>
      </p:sp>
    </p:spTree>
    <p:extLst>
      <p:ext uri="{BB962C8B-B14F-4D97-AF65-F5344CB8AC3E}">
        <p14:creationId xmlns:p14="http://schemas.microsoft.com/office/powerpoint/2010/main" val="39488757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JMETER Works</a:t>
            </a:r>
            <a:endParaRPr lang="en-US" dirty="0"/>
          </a:p>
        </p:txBody>
      </p:sp>
      <p:sp>
        <p:nvSpPr>
          <p:cNvPr id="3" name="Content Placeholder 2"/>
          <p:cNvSpPr>
            <a:spLocks noGrp="1"/>
          </p:cNvSpPr>
          <p:nvPr>
            <p:ph idx="1"/>
          </p:nvPr>
        </p:nvSpPr>
        <p:spPr/>
        <p:txBody>
          <a:bodyPr/>
          <a:lstStyle/>
          <a:p>
            <a:r>
              <a:rPr lang="en-US" dirty="0" smtClean="0"/>
              <a:t>J Meter </a:t>
            </a:r>
            <a:r>
              <a:rPr lang="en-US" dirty="0"/>
              <a:t>simulates a group of users sending requests to a target server, and returns statistics that show the performance/functionality of the target server/application via tables, graphs, </a:t>
            </a:r>
            <a:r>
              <a:rPr lang="en-US" dirty="0" err="1" smtClean="0"/>
              <a:t>etc</a:t>
            </a:r>
            <a:endParaRPr lang="en-US" dirty="0" smtClean="0"/>
          </a:p>
          <a:p>
            <a:endParaRPr lang="en-US" dirty="0"/>
          </a:p>
        </p:txBody>
      </p:sp>
      <p:pic>
        <p:nvPicPr>
          <p:cNvPr id="4" name="Picture 3" descr="JMeter Process"/>
          <p:cNvPicPr/>
          <p:nvPr/>
        </p:nvPicPr>
        <p:blipFill>
          <a:blip r:embed="rId2">
            <a:extLst>
              <a:ext uri="{28A0092B-C50C-407E-A947-70E740481C1C}">
                <a14:useLocalDpi xmlns:a14="http://schemas.microsoft.com/office/drawing/2010/main" val="0"/>
              </a:ext>
            </a:extLst>
          </a:blip>
          <a:srcRect/>
          <a:stretch>
            <a:fillRect/>
          </a:stretch>
        </p:blipFill>
        <p:spPr bwMode="auto">
          <a:xfrm>
            <a:off x="2535383" y="3538538"/>
            <a:ext cx="6414654" cy="2943225"/>
          </a:xfrm>
          <a:prstGeom prst="rect">
            <a:avLst/>
          </a:prstGeom>
          <a:noFill/>
          <a:ln>
            <a:noFill/>
          </a:ln>
        </p:spPr>
      </p:pic>
    </p:spTree>
    <p:extLst>
      <p:ext uri="{BB962C8B-B14F-4D97-AF65-F5344CB8AC3E}">
        <p14:creationId xmlns:p14="http://schemas.microsoft.com/office/powerpoint/2010/main" val="16209266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Installation of J Meter</a:t>
            </a:r>
            <a:endParaRPr lang="en-US" dirty="0"/>
          </a:p>
        </p:txBody>
      </p:sp>
      <p:sp>
        <p:nvSpPr>
          <p:cNvPr id="3" name="Content Placeholder 2"/>
          <p:cNvSpPr>
            <a:spLocks noGrp="1"/>
          </p:cNvSpPr>
          <p:nvPr>
            <p:ph idx="1"/>
          </p:nvPr>
        </p:nvSpPr>
        <p:spPr/>
        <p:txBody>
          <a:bodyPr/>
          <a:lstStyle/>
          <a:p>
            <a:r>
              <a:rPr lang="en-US" dirty="0" smtClean="0"/>
              <a:t>J Meter </a:t>
            </a:r>
            <a:r>
              <a:rPr lang="en-US" dirty="0"/>
              <a:t>is pure Java desktop application, it requires a fully compliant JVM 6 or higher. You can download and install the latest version of Java SE Development Kit</a:t>
            </a:r>
          </a:p>
          <a:p>
            <a:r>
              <a:rPr lang="en-US" dirty="0"/>
              <a:t>Installation of </a:t>
            </a:r>
            <a:r>
              <a:rPr lang="en-US" dirty="0" smtClean="0"/>
              <a:t>J Meter </a:t>
            </a:r>
            <a:r>
              <a:rPr lang="en-US" dirty="0"/>
              <a:t>is extremely easy and simple. You simply unzip the zip/tar file into the directory where you want </a:t>
            </a:r>
            <a:r>
              <a:rPr lang="en-US" dirty="0" smtClean="0"/>
              <a:t>J Meter </a:t>
            </a:r>
            <a:r>
              <a:rPr lang="en-US" dirty="0"/>
              <a:t>to be installed</a:t>
            </a:r>
          </a:p>
        </p:txBody>
      </p:sp>
    </p:spTree>
    <p:extLst>
      <p:ext uri="{BB962C8B-B14F-4D97-AF65-F5344CB8AC3E}">
        <p14:creationId xmlns:p14="http://schemas.microsoft.com/office/powerpoint/2010/main" val="6225880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Launch J Meter</a:t>
            </a:r>
            <a:endParaRPr lang="en-US" b="1" dirty="0"/>
          </a:p>
        </p:txBody>
      </p:sp>
      <p:sp>
        <p:nvSpPr>
          <p:cNvPr id="3" name="Content Placeholder 2"/>
          <p:cNvSpPr>
            <a:spLocks noGrp="1"/>
          </p:cNvSpPr>
          <p:nvPr>
            <p:ph idx="1"/>
          </p:nvPr>
        </p:nvSpPr>
        <p:spPr/>
        <p:txBody>
          <a:bodyPr>
            <a:normAutofit/>
          </a:bodyPr>
          <a:lstStyle/>
          <a:p>
            <a:pPr marL="0" indent="0">
              <a:buNone/>
            </a:pPr>
            <a:r>
              <a:rPr lang="en-US" sz="2000" b="1" dirty="0"/>
              <a:t> </a:t>
            </a:r>
            <a:r>
              <a:rPr lang="en-US" sz="2000" dirty="0" smtClean="0"/>
              <a:t>You </a:t>
            </a:r>
            <a:r>
              <a:rPr lang="en-US" sz="2000" dirty="0"/>
              <a:t>can start </a:t>
            </a:r>
            <a:r>
              <a:rPr lang="en-US" sz="2000" dirty="0" smtClean="0"/>
              <a:t>J Meter </a:t>
            </a:r>
            <a:r>
              <a:rPr lang="en-US" sz="2000" dirty="0"/>
              <a:t>in 3 modes</a:t>
            </a:r>
          </a:p>
          <a:p>
            <a:pPr lvl="0"/>
            <a:r>
              <a:rPr lang="en-US" sz="2000" dirty="0"/>
              <a:t>GUI Mode</a:t>
            </a:r>
          </a:p>
          <a:p>
            <a:pPr lvl="0"/>
            <a:r>
              <a:rPr lang="en-US" sz="2000" dirty="0"/>
              <a:t>Server Mode</a:t>
            </a:r>
          </a:p>
          <a:p>
            <a:pPr lvl="0"/>
            <a:r>
              <a:rPr lang="en-US" sz="2000" dirty="0"/>
              <a:t>Command Line Mode</a:t>
            </a:r>
          </a:p>
        </p:txBody>
      </p:sp>
    </p:spTree>
    <p:extLst>
      <p:ext uri="{BB962C8B-B14F-4D97-AF65-F5344CB8AC3E}">
        <p14:creationId xmlns:p14="http://schemas.microsoft.com/office/powerpoint/2010/main" val="24473611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Start </a:t>
            </a:r>
            <a:r>
              <a:rPr lang="en-US" b="1" dirty="0" smtClean="0"/>
              <a:t>J Meter </a:t>
            </a:r>
            <a:r>
              <a:rPr lang="en-US" b="1" dirty="0"/>
              <a:t>in Server Mode</a:t>
            </a:r>
            <a:br>
              <a:rPr lang="en-US" b="1" dirty="0"/>
            </a:br>
            <a:endParaRPr lang="en-US" dirty="0"/>
          </a:p>
        </p:txBody>
      </p:sp>
      <p:sp>
        <p:nvSpPr>
          <p:cNvPr id="3" name="Content Placeholder 2"/>
          <p:cNvSpPr>
            <a:spLocks noGrp="1"/>
          </p:cNvSpPr>
          <p:nvPr>
            <p:ph idx="1"/>
          </p:nvPr>
        </p:nvSpPr>
        <p:spPr/>
        <p:txBody>
          <a:bodyPr/>
          <a:lstStyle/>
          <a:p>
            <a:r>
              <a:rPr lang="en-US" dirty="0"/>
              <a:t>Server mode is used for </a:t>
            </a:r>
            <a:r>
              <a:rPr lang="en-US" b="1" dirty="0"/>
              <a:t>distributed</a:t>
            </a:r>
            <a:r>
              <a:rPr lang="en-US" dirty="0"/>
              <a:t> testing</a:t>
            </a:r>
            <a:r>
              <a:rPr lang="en-US" dirty="0" smtClean="0"/>
              <a:t>.</a:t>
            </a:r>
          </a:p>
          <a:p>
            <a:r>
              <a:rPr lang="en-US" dirty="0" smtClean="0"/>
              <a:t> This</a:t>
            </a:r>
            <a:r>
              <a:rPr lang="en-US" u="sng" dirty="0"/>
              <a:t> </a:t>
            </a:r>
            <a:r>
              <a:rPr lang="en-US" dirty="0" smtClean="0"/>
              <a:t>testing works </a:t>
            </a:r>
            <a:r>
              <a:rPr lang="en-US" dirty="0"/>
              <a:t>as </a:t>
            </a:r>
            <a:r>
              <a:rPr lang="en-US" b="1" dirty="0"/>
              <a:t>a client-server</a:t>
            </a:r>
            <a:r>
              <a:rPr lang="en-US" dirty="0"/>
              <a:t> model. In this model, </a:t>
            </a:r>
            <a:r>
              <a:rPr lang="en-US" dirty="0" smtClean="0"/>
              <a:t>J Meter </a:t>
            </a:r>
            <a:r>
              <a:rPr lang="en-US" dirty="0"/>
              <a:t>runs on a server computer in </a:t>
            </a:r>
            <a:r>
              <a:rPr lang="en-US" b="1" dirty="0"/>
              <a:t>server </a:t>
            </a:r>
            <a:r>
              <a:rPr lang="en-US" dirty="0"/>
              <a:t>mode. On a client computer, </a:t>
            </a:r>
            <a:r>
              <a:rPr lang="en-US" dirty="0" smtClean="0"/>
              <a:t>J Meter </a:t>
            </a:r>
            <a:r>
              <a:rPr lang="en-US" dirty="0"/>
              <a:t>runs in </a:t>
            </a:r>
            <a:r>
              <a:rPr lang="en-US" b="1" dirty="0"/>
              <a:t>GUI</a:t>
            </a:r>
            <a:r>
              <a:rPr lang="en-US" dirty="0"/>
              <a:t> mode.</a:t>
            </a:r>
          </a:p>
          <a:p>
            <a:r>
              <a:rPr lang="en-US" dirty="0"/>
              <a:t>To start the server mode, you run the bat file bin\</a:t>
            </a:r>
            <a:r>
              <a:rPr lang="en-US" b="1" dirty="0"/>
              <a:t>jmeter-server.bat </a:t>
            </a:r>
            <a:r>
              <a:rPr lang="en-US" dirty="0"/>
              <a:t>as below </a:t>
            </a:r>
            <a:r>
              <a:rPr lang="en-US" dirty="0" smtClean="0"/>
              <a:t>figure</a:t>
            </a:r>
          </a:p>
          <a:p>
            <a:endParaRPr lang="en-US" dirty="0"/>
          </a:p>
        </p:txBody>
      </p:sp>
      <p:pic>
        <p:nvPicPr>
          <p:cNvPr id="10" name="Picture 9" descr="How to install Jmeter in easy steps"/>
          <p:cNvPicPr/>
          <p:nvPr/>
        </p:nvPicPr>
        <p:blipFill>
          <a:blip r:embed="rId2">
            <a:extLst>
              <a:ext uri="{28A0092B-C50C-407E-A947-70E740481C1C}">
                <a14:useLocalDpi xmlns:a14="http://schemas.microsoft.com/office/drawing/2010/main" val="0"/>
              </a:ext>
            </a:extLst>
          </a:blip>
          <a:srcRect/>
          <a:stretch>
            <a:fillRect/>
          </a:stretch>
        </p:blipFill>
        <p:spPr bwMode="auto">
          <a:xfrm>
            <a:off x="2656609" y="4573300"/>
            <a:ext cx="6324600" cy="1590675"/>
          </a:xfrm>
          <a:prstGeom prst="rect">
            <a:avLst/>
          </a:prstGeom>
          <a:noFill/>
          <a:ln>
            <a:noFill/>
          </a:ln>
        </p:spPr>
      </p:pic>
    </p:spTree>
    <p:extLst>
      <p:ext uri="{BB962C8B-B14F-4D97-AF65-F5344CB8AC3E}">
        <p14:creationId xmlns:p14="http://schemas.microsoft.com/office/powerpoint/2010/main" val="695622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Start JMeter in command line mode</a:t>
            </a:r>
          </a:p>
        </p:txBody>
      </p:sp>
      <p:sp>
        <p:nvSpPr>
          <p:cNvPr id="3" name="Content Placeholder 2"/>
          <p:cNvSpPr>
            <a:spLocks noGrp="1"/>
          </p:cNvSpPr>
          <p:nvPr>
            <p:ph idx="1"/>
          </p:nvPr>
        </p:nvSpPr>
        <p:spPr/>
        <p:txBody>
          <a:bodyPr/>
          <a:lstStyle/>
          <a:p>
            <a:r>
              <a:rPr lang="en-US" dirty="0"/>
              <a:t>JMeter in GUI mode consumes much computer memory. For saving the resource, you may choose to run JMeter without the GUI. To do so, use the following command </a:t>
            </a:r>
            <a:r>
              <a:rPr lang="en-US" dirty="0" smtClean="0"/>
              <a:t>options</a:t>
            </a:r>
          </a:p>
          <a:p>
            <a:endParaRPr lang="en-US" dirty="0"/>
          </a:p>
        </p:txBody>
      </p:sp>
      <p:pic>
        <p:nvPicPr>
          <p:cNvPr id="4" name="Picture 3" descr="How to install Jmeter in easy steps"/>
          <p:cNvPicPr/>
          <p:nvPr/>
        </p:nvPicPr>
        <p:blipFill>
          <a:blip r:embed="rId2">
            <a:extLst>
              <a:ext uri="{28A0092B-C50C-407E-A947-70E740481C1C}">
                <a14:useLocalDpi xmlns:a14="http://schemas.microsoft.com/office/drawing/2010/main" val="0"/>
              </a:ext>
            </a:extLst>
          </a:blip>
          <a:srcRect/>
          <a:stretch>
            <a:fillRect/>
          </a:stretch>
        </p:blipFill>
        <p:spPr bwMode="auto">
          <a:xfrm>
            <a:off x="1534956" y="3700890"/>
            <a:ext cx="7553325" cy="1866900"/>
          </a:xfrm>
          <a:prstGeom prst="rect">
            <a:avLst/>
          </a:prstGeom>
          <a:noFill/>
          <a:ln>
            <a:noFill/>
          </a:ln>
        </p:spPr>
      </p:pic>
    </p:spTree>
    <p:extLst>
      <p:ext uri="{BB962C8B-B14F-4D97-AF65-F5344CB8AC3E}">
        <p14:creationId xmlns:p14="http://schemas.microsoft.com/office/powerpoint/2010/main" val="35151723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Start JMeter in GUI Mode</a:t>
            </a:r>
          </a:p>
        </p:txBody>
      </p:sp>
      <p:sp>
        <p:nvSpPr>
          <p:cNvPr id="3" name="Content Placeholder 2"/>
          <p:cNvSpPr>
            <a:spLocks noGrp="1"/>
          </p:cNvSpPr>
          <p:nvPr>
            <p:ph idx="1"/>
          </p:nvPr>
        </p:nvSpPr>
        <p:spPr/>
        <p:txBody>
          <a:bodyPr/>
          <a:lstStyle/>
          <a:p>
            <a:r>
              <a:rPr lang="en-US" dirty="0"/>
              <a:t>If you are using Window, just run the file </a:t>
            </a:r>
            <a:r>
              <a:rPr lang="en-US" b="1" dirty="0"/>
              <a:t>/bin/jmeter.bat</a:t>
            </a:r>
            <a:r>
              <a:rPr lang="en-US" dirty="0"/>
              <a:t> to start JMeter </a:t>
            </a:r>
            <a:r>
              <a:rPr lang="en-US" dirty="0" smtClean="0"/>
              <a:t>in </a:t>
            </a:r>
            <a:r>
              <a:rPr lang="en-US" dirty="0"/>
              <a:t>GUI </a:t>
            </a:r>
            <a:r>
              <a:rPr lang="en-US" dirty="0" smtClean="0"/>
              <a:t>mode</a:t>
            </a:r>
          </a:p>
          <a:p>
            <a:endParaRPr lang="en-US" dirty="0"/>
          </a:p>
        </p:txBody>
      </p:sp>
      <p:pic>
        <p:nvPicPr>
          <p:cNvPr id="4" name="Picture 3" descr="JMeter GUI"/>
          <p:cNvPicPr/>
          <p:nvPr/>
        </p:nvPicPr>
        <p:blipFill>
          <a:blip r:embed="rId2">
            <a:extLst>
              <a:ext uri="{28A0092B-C50C-407E-A947-70E740481C1C}">
                <a14:useLocalDpi xmlns:a14="http://schemas.microsoft.com/office/drawing/2010/main" val="0"/>
              </a:ext>
            </a:extLst>
          </a:blip>
          <a:srcRect/>
          <a:stretch>
            <a:fillRect/>
          </a:stretch>
        </p:blipFill>
        <p:spPr bwMode="auto">
          <a:xfrm>
            <a:off x="2868660" y="3273570"/>
            <a:ext cx="5334000" cy="3000375"/>
          </a:xfrm>
          <a:prstGeom prst="rect">
            <a:avLst/>
          </a:prstGeom>
          <a:noFill/>
          <a:ln>
            <a:noFill/>
          </a:ln>
        </p:spPr>
      </p:pic>
    </p:spTree>
    <p:extLst>
      <p:ext uri="{BB962C8B-B14F-4D97-AF65-F5344CB8AC3E}">
        <p14:creationId xmlns:p14="http://schemas.microsoft.com/office/powerpoint/2010/main" val="191925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TEST PLAN</a:t>
            </a:r>
            <a:endParaRPr lang="en-US" b="1" dirty="0"/>
          </a:p>
        </p:txBody>
      </p:sp>
      <p:sp>
        <p:nvSpPr>
          <p:cNvPr id="3" name="Content Placeholder 2"/>
          <p:cNvSpPr>
            <a:spLocks noGrp="1"/>
          </p:cNvSpPr>
          <p:nvPr>
            <p:ph idx="1"/>
          </p:nvPr>
        </p:nvSpPr>
        <p:spPr/>
        <p:txBody>
          <a:bodyPr/>
          <a:lstStyle/>
          <a:p>
            <a:r>
              <a:rPr lang="en-US" dirty="0"/>
              <a:t>A Test Plan can be viewed as a container for running tests. It defines what to test and how to go about it. A complete test plan consists of one or more elements such as thread groups, logic controllers, sample-generating controllers, listeners, timers, assertions, and configuration elements. A test plan must have at least one thread group</a:t>
            </a:r>
          </a:p>
        </p:txBody>
      </p:sp>
    </p:spTree>
    <p:extLst>
      <p:ext uri="{BB962C8B-B14F-4D97-AF65-F5344CB8AC3E}">
        <p14:creationId xmlns:p14="http://schemas.microsoft.com/office/powerpoint/2010/main" val="41398064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 in JMeter</a:t>
            </a:r>
          </a:p>
        </p:txBody>
      </p:sp>
      <p:sp>
        <p:nvSpPr>
          <p:cNvPr id="3" name="Content Placeholder 2"/>
          <p:cNvSpPr>
            <a:spLocks noGrp="1"/>
          </p:cNvSpPr>
          <p:nvPr>
            <p:ph idx="1"/>
          </p:nvPr>
        </p:nvSpPr>
        <p:spPr/>
        <p:txBody>
          <a:bodyPr/>
          <a:lstStyle/>
          <a:p>
            <a:r>
              <a:rPr lang="en-US" dirty="0"/>
              <a:t>The different components of JMeter are called Elements. Each Element is designed for a specific purpose.</a:t>
            </a:r>
          </a:p>
          <a:p>
            <a:r>
              <a:rPr lang="en-US" dirty="0"/>
              <a:t>The figure below gives some common elements in </a:t>
            </a:r>
            <a:r>
              <a:rPr lang="en-US" dirty="0" err="1" smtClean="0"/>
              <a:t>Jmeter</a:t>
            </a:r>
            <a:endParaRPr lang="en-US" dirty="0" smtClean="0"/>
          </a:p>
          <a:p>
            <a:endParaRPr lang="en-US" dirty="0" smtClean="0"/>
          </a:p>
          <a:p>
            <a:endParaRPr lang="en-US" dirty="0"/>
          </a:p>
        </p:txBody>
      </p:sp>
      <p:pic>
        <p:nvPicPr>
          <p:cNvPr id="4" name="Picture 3" descr="Complete Element reference for Jmeter"/>
          <p:cNvPicPr/>
          <p:nvPr/>
        </p:nvPicPr>
        <p:blipFill>
          <a:blip r:embed="rId2">
            <a:extLst>
              <a:ext uri="{28A0092B-C50C-407E-A947-70E740481C1C}">
                <a14:useLocalDpi xmlns:a14="http://schemas.microsoft.com/office/drawing/2010/main" val="0"/>
              </a:ext>
            </a:extLst>
          </a:blip>
          <a:srcRect/>
          <a:stretch>
            <a:fillRect/>
          </a:stretch>
        </p:blipFill>
        <p:spPr bwMode="auto">
          <a:xfrm>
            <a:off x="2001884" y="3870930"/>
            <a:ext cx="8305897" cy="2762250"/>
          </a:xfrm>
          <a:prstGeom prst="rect">
            <a:avLst/>
          </a:prstGeom>
          <a:noFill/>
          <a:ln>
            <a:noFill/>
          </a:ln>
        </p:spPr>
      </p:pic>
    </p:spTree>
    <p:extLst>
      <p:ext uri="{BB962C8B-B14F-4D97-AF65-F5344CB8AC3E}">
        <p14:creationId xmlns:p14="http://schemas.microsoft.com/office/powerpoint/2010/main" val="3511516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 METER ELEMENTS</a:t>
            </a:r>
            <a:endParaRPr lang="en-US" b="1" dirty="0"/>
          </a:p>
        </p:txBody>
      </p:sp>
      <p:sp>
        <p:nvSpPr>
          <p:cNvPr id="3" name="Content Placeholder 2"/>
          <p:cNvSpPr>
            <a:spLocks noGrp="1"/>
          </p:cNvSpPr>
          <p:nvPr>
            <p:ph idx="1"/>
          </p:nvPr>
        </p:nvSpPr>
        <p:spPr>
          <a:xfrm>
            <a:off x="1154954" y="2714336"/>
            <a:ext cx="8825659" cy="3416300"/>
          </a:xfrm>
        </p:spPr>
        <p:txBody>
          <a:bodyPr/>
          <a:lstStyle/>
          <a:p>
            <a:r>
              <a:rPr lang="en-US" dirty="0" smtClean="0"/>
              <a:t>Thread </a:t>
            </a:r>
            <a:r>
              <a:rPr lang="en-US" dirty="0"/>
              <a:t>Group</a:t>
            </a:r>
          </a:p>
          <a:p>
            <a:r>
              <a:rPr lang="en-US" dirty="0" smtClean="0"/>
              <a:t>Samplers</a:t>
            </a:r>
          </a:p>
          <a:p>
            <a:r>
              <a:rPr lang="en-US" dirty="0" smtClean="0"/>
              <a:t>Logic Controllers</a:t>
            </a:r>
            <a:endParaRPr lang="en-US" dirty="0"/>
          </a:p>
          <a:p>
            <a:r>
              <a:rPr lang="en-US" dirty="0"/>
              <a:t>Listeners</a:t>
            </a:r>
          </a:p>
          <a:p>
            <a:r>
              <a:rPr lang="en-US" dirty="0"/>
              <a:t>Configuration</a:t>
            </a:r>
          </a:p>
          <a:p>
            <a:endParaRPr lang="en-US" dirty="0"/>
          </a:p>
        </p:txBody>
      </p:sp>
    </p:spTree>
    <p:extLst>
      <p:ext uri="{BB962C8B-B14F-4D97-AF65-F5344CB8AC3E}">
        <p14:creationId xmlns:p14="http://schemas.microsoft.com/office/powerpoint/2010/main" val="3349880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THREAD GROUP</a:t>
            </a:r>
            <a:endParaRPr lang="en-US" b="1" dirty="0"/>
          </a:p>
        </p:txBody>
      </p:sp>
      <p:sp>
        <p:nvSpPr>
          <p:cNvPr id="3" name="Content Placeholder 2"/>
          <p:cNvSpPr>
            <a:spLocks noGrp="1"/>
          </p:cNvSpPr>
          <p:nvPr>
            <p:ph idx="1"/>
          </p:nvPr>
        </p:nvSpPr>
        <p:spPr/>
        <p:txBody>
          <a:bodyPr/>
          <a:lstStyle/>
          <a:p>
            <a:r>
              <a:rPr lang="en-US" dirty="0"/>
              <a:t>Thread Groups is a collection of Threads. Each thread represents one user using the application under test. Basically, each Thread simulates one real user request to the server.</a:t>
            </a:r>
          </a:p>
          <a:p>
            <a:r>
              <a:rPr lang="en-US" dirty="0"/>
              <a:t>The controls for a thread group allow you to Set the number of threads for each group.</a:t>
            </a:r>
          </a:p>
          <a:p>
            <a:r>
              <a:rPr lang="en-US" dirty="0"/>
              <a:t>For example, if you set the number of threads as 100; JMeter will create and simulate 100 user requests to the server under test</a:t>
            </a:r>
          </a:p>
          <a:p>
            <a:endParaRPr lang="en-US" dirty="0"/>
          </a:p>
        </p:txBody>
      </p:sp>
    </p:spTree>
    <p:extLst>
      <p:ext uri="{BB962C8B-B14F-4D97-AF65-F5344CB8AC3E}">
        <p14:creationId xmlns:p14="http://schemas.microsoft.com/office/powerpoint/2010/main" val="28671395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THREAD GROUP </a:t>
            </a:r>
            <a:endParaRPr lang="en-US" b="1" dirty="0"/>
          </a:p>
        </p:txBody>
      </p:sp>
      <p:pic>
        <p:nvPicPr>
          <p:cNvPr id="4" name="Content Placeholder 3" descr="Complete Element reference for Jmete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2010569" y="2635250"/>
            <a:ext cx="7115175" cy="3352800"/>
          </a:xfrm>
          <a:prstGeom prst="rect">
            <a:avLst/>
          </a:prstGeom>
          <a:noFill/>
          <a:ln>
            <a:noFill/>
          </a:ln>
        </p:spPr>
      </p:pic>
      <p:sp>
        <p:nvSpPr>
          <p:cNvPr id="5" name="Rectangle 4"/>
          <p:cNvSpPr/>
          <p:nvPr/>
        </p:nvSpPr>
        <p:spPr>
          <a:xfrm>
            <a:off x="2574388" y="4389120"/>
            <a:ext cx="618978" cy="3094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0575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SAMPLERS</a:t>
            </a:r>
            <a:endParaRPr lang="en-US" b="1" dirty="0"/>
          </a:p>
        </p:txBody>
      </p:sp>
      <p:sp>
        <p:nvSpPr>
          <p:cNvPr id="3" name="Content Placeholder 2"/>
          <p:cNvSpPr>
            <a:spLocks noGrp="1"/>
          </p:cNvSpPr>
          <p:nvPr>
            <p:ph idx="1"/>
          </p:nvPr>
        </p:nvSpPr>
        <p:spPr/>
        <p:txBody>
          <a:bodyPr/>
          <a:lstStyle/>
          <a:p>
            <a:r>
              <a:rPr lang="en-US" dirty="0" err="1" smtClean="0"/>
              <a:t>JMeter</a:t>
            </a:r>
            <a:r>
              <a:rPr lang="en-US" dirty="0" smtClean="0"/>
              <a:t> </a:t>
            </a:r>
            <a:r>
              <a:rPr lang="en-US" dirty="0"/>
              <a:t>supports testing HTTP, FTP, JDBC and many other protocols.</a:t>
            </a:r>
          </a:p>
          <a:p>
            <a:r>
              <a:rPr lang="en-US" dirty="0" smtClean="0"/>
              <a:t>Thread </a:t>
            </a:r>
            <a:r>
              <a:rPr lang="en-US" dirty="0"/>
              <a:t>Groups simulate user request to the server</a:t>
            </a:r>
          </a:p>
          <a:p>
            <a:r>
              <a:rPr lang="en-US" dirty="0"/>
              <a:t>But how does a Thread Group know which type of requests (HTTP, FTP etc.) it needs to make?</a:t>
            </a:r>
          </a:p>
          <a:p>
            <a:r>
              <a:rPr lang="en-US" dirty="0"/>
              <a:t>The answer is Samplers</a:t>
            </a:r>
          </a:p>
          <a:p>
            <a:r>
              <a:rPr lang="en-US" dirty="0"/>
              <a:t>The user request could be FTP Request, HTTP Request, JDBC Request…Etc.</a:t>
            </a:r>
          </a:p>
        </p:txBody>
      </p:sp>
    </p:spTree>
    <p:extLst>
      <p:ext uri="{BB962C8B-B14F-4D97-AF65-F5344CB8AC3E}">
        <p14:creationId xmlns:p14="http://schemas.microsoft.com/office/powerpoint/2010/main" val="21060304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SAMPLERS</a:t>
            </a:r>
            <a:endParaRPr lang="en-US" b="1" dirty="0"/>
          </a:p>
        </p:txBody>
      </p:sp>
      <p:pic>
        <p:nvPicPr>
          <p:cNvPr id="4" name="Content Placeholder 3" descr="Complete Element reference for Jmete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2334419" y="3373437"/>
            <a:ext cx="6467475" cy="1876425"/>
          </a:xfrm>
          <a:prstGeom prst="rect">
            <a:avLst/>
          </a:prstGeom>
          <a:noFill/>
          <a:ln>
            <a:noFill/>
          </a:ln>
        </p:spPr>
      </p:pic>
    </p:spTree>
    <p:extLst>
      <p:ext uri="{BB962C8B-B14F-4D97-AF65-F5344CB8AC3E}">
        <p14:creationId xmlns:p14="http://schemas.microsoft.com/office/powerpoint/2010/main" val="28572533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FTP REQUEST</a:t>
            </a:r>
            <a:endParaRPr lang="en-US" b="1" dirty="0"/>
          </a:p>
        </p:txBody>
      </p:sp>
      <p:sp>
        <p:nvSpPr>
          <p:cNvPr id="3" name="Content Placeholder 2"/>
          <p:cNvSpPr>
            <a:spLocks noGrp="1"/>
          </p:cNvSpPr>
          <p:nvPr>
            <p:ph idx="1"/>
          </p:nvPr>
        </p:nvSpPr>
        <p:spPr/>
        <p:txBody>
          <a:bodyPr/>
          <a:lstStyle/>
          <a:p>
            <a:r>
              <a:rPr lang="en-US" dirty="0"/>
              <a:t>Let’s imagine you want to performance test an FTP server. You can use an FTP request sampler in JMeter to do this task. This controller lets you send an FTP “download file” or “upload file” request to an FTP server.</a:t>
            </a:r>
          </a:p>
          <a:p>
            <a:endParaRPr lang="en-US" dirty="0"/>
          </a:p>
        </p:txBody>
      </p:sp>
      <p:pic>
        <p:nvPicPr>
          <p:cNvPr id="13" name="Picture 12" descr="Complete Element reference for Jmeter"/>
          <p:cNvPicPr/>
          <p:nvPr/>
        </p:nvPicPr>
        <p:blipFill>
          <a:blip r:embed="rId2">
            <a:extLst>
              <a:ext uri="{28A0092B-C50C-407E-A947-70E740481C1C}">
                <a14:useLocalDpi xmlns:a14="http://schemas.microsoft.com/office/drawing/2010/main" val="0"/>
              </a:ext>
            </a:extLst>
          </a:blip>
          <a:srcRect/>
          <a:stretch>
            <a:fillRect/>
          </a:stretch>
        </p:blipFill>
        <p:spPr bwMode="auto">
          <a:xfrm>
            <a:off x="2838449" y="3448843"/>
            <a:ext cx="7091363" cy="2066131"/>
          </a:xfrm>
          <a:prstGeom prst="rect">
            <a:avLst/>
          </a:prstGeom>
          <a:noFill/>
          <a:ln>
            <a:noFill/>
          </a:ln>
        </p:spPr>
      </p:pic>
    </p:spTree>
    <p:extLst>
      <p:ext uri="{BB962C8B-B14F-4D97-AF65-F5344CB8AC3E}">
        <p14:creationId xmlns:p14="http://schemas.microsoft.com/office/powerpoint/2010/main" val="24956650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FTP REQUEST</a:t>
            </a:r>
            <a:endParaRPr lang="en-US" b="1" dirty="0"/>
          </a:p>
        </p:txBody>
      </p:sp>
      <p:sp>
        <p:nvSpPr>
          <p:cNvPr id="3" name="Content Placeholder 2"/>
          <p:cNvSpPr>
            <a:spLocks noGrp="1"/>
          </p:cNvSpPr>
          <p:nvPr>
            <p:ph idx="1"/>
          </p:nvPr>
        </p:nvSpPr>
        <p:spPr/>
        <p:txBody>
          <a:bodyPr/>
          <a:lstStyle/>
          <a:p>
            <a:r>
              <a:rPr lang="en-US" dirty="0"/>
              <a:t>For example, if you want to download a file “Test.txt” from an FTP server under test, you need to configure some parameters in JMeter as the figure </a:t>
            </a:r>
            <a:r>
              <a:rPr lang="en-US" dirty="0" smtClean="0"/>
              <a:t>below</a:t>
            </a:r>
            <a:endParaRPr lang="en-US" dirty="0"/>
          </a:p>
        </p:txBody>
      </p:sp>
      <p:pic>
        <p:nvPicPr>
          <p:cNvPr id="4" name="Picture 3" descr="Complete Element reference for Jmeter"/>
          <p:cNvPicPr/>
          <p:nvPr/>
        </p:nvPicPr>
        <p:blipFill>
          <a:blip r:embed="rId2">
            <a:extLst>
              <a:ext uri="{28A0092B-C50C-407E-A947-70E740481C1C}">
                <a14:useLocalDpi xmlns:a14="http://schemas.microsoft.com/office/drawing/2010/main" val="0"/>
              </a:ext>
            </a:extLst>
          </a:blip>
          <a:srcRect/>
          <a:stretch>
            <a:fillRect/>
          </a:stretch>
        </p:blipFill>
        <p:spPr bwMode="auto">
          <a:xfrm>
            <a:off x="1928812" y="3969281"/>
            <a:ext cx="6172201" cy="2973387"/>
          </a:xfrm>
          <a:prstGeom prst="rect">
            <a:avLst/>
          </a:prstGeom>
          <a:noFill/>
          <a:ln>
            <a:noFill/>
          </a:ln>
        </p:spPr>
      </p:pic>
    </p:spTree>
    <p:extLst>
      <p:ext uri="{BB962C8B-B14F-4D97-AF65-F5344CB8AC3E}">
        <p14:creationId xmlns:p14="http://schemas.microsoft.com/office/powerpoint/2010/main" val="4255673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HTTP request</a:t>
            </a:r>
            <a:endParaRPr lang="en-US" dirty="0"/>
          </a:p>
        </p:txBody>
      </p:sp>
      <p:sp>
        <p:nvSpPr>
          <p:cNvPr id="3" name="Content Placeholder 2"/>
          <p:cNvSpPr>
            <a:spLocks noGrp="1"/>
          </p:cNvSpPr>
          <p:nvPr>
            <p:ph idx="1"/>
          </p:nvPr>
        </p:nvSpPr>
        <p:spPr/>
        <p:txBody>
          <a:bodyPr/>
          <a:lstStyle/>
          <a:p>
            <a:pPr marL="0" indent="0">
              <a:buNone/>
            </a:pPr>
            <a:endParaRPr lang="en-US" b="1" dirty="0"/>
          </a:p>
          <a:p>
            <a:r>
              <a:rPr lang="en-US" dirty="0"/>
              <a:t>This </a:t>
            </a:r>
            <a:r>
              <a:rPr lang="en-US" dirty="0" smtClean="0"/>
              <a:t>kind of sampler let us send </a:t>
            </a:r>
            <a:r>
              <a:rPr lang="en-US" dirty="0"/>
              <a:t>an HTTP/HTTPS request to a web server.</a:t>
            </a:r>
          </a:p>
          <a:p>
            <a:r>
              <a:rPr lang="en-US" dirty="0"/>
              <a:t>Consider the example below. JMeter sends an HTTP request to Google website and retrieve HTML files or image from this website</a:t>
            </a:r>
            <a:r>
              <a:rPr lang="en-US" dirty="0" smtClean="0"/>
              <a:t>.</a:t>
            </a:r>
            <a:endParaRPr lang="en-US" dirty="0"/>
          </a:p>
        </p:txBody>
      </p:sp>
      <p:pic>
        <p:nvPicPr>
          <p:cNvPr id="4" name="Picture 3" descr="Complete Element reference for Jmeter"/>
          <p:cNvPicPr/>
          <p:nvPr/>
        </p:nvPicPr>
        <p:blipFill>
          <a:blip r:embed="rId2">
            <a:extLst>
              <a:ext uri="{28A0092B-C50C-407E-A947-70E740481C1C}">
                <a14:useLocalDpi xmlns:a14="http://schemas.microsoft.com/office/drawing/2010/main" val="0"/>
              </a:ext>
            </a:extLst>
          </a:blip>
          <a:srcRect/>
          <a:stretch>
            <a:fillRect/>
          </a:stretch>
        </p:blipFill>
        <p:spPr bwMode="auto">
          <a:xfrm>
            <a:off x="2360035" y="4213513"/>
            <a:ext cx="6312910" cy="1356013"/>
          </a:xfrm>
          <a:prstGeom prst="rect">
            <a:avLst/>
          </a:prstGeom>
          <a:noFill/>
          <a:ln>
            <a:noFill/>
          </a:ln>
        </p:spPr>
      </p:pic>
    </p:spTree>
    <p:extLst>
      <p:ext uri="{BB962C8B-B14F-4D97-AF65-F5344CB8AC3E}">
        <p14:creationId xmlns:p14="http://schemas.microsoft.com/office/powerpoint/2010/main" val="5706711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3561"/>
            <a:ext cx="10515600" cy="1325563"/>
          </a:xfrm>
        </p:spPr>
        <p:txBody>
          <a:bodyPr/>
          <a:lstStyle/>
          <a:p>
            <a:r>
              <a:rPr lang="en-US" dirty="0" smtClean="0"/>
              <a:t>LISTENERS</a:t>
            </a:r>
            <a:endParaRPr lang="en-US" dirty="0"/>
          </a:p>
        </p:txBody>
      </p:sp>
      <p:sp>
        <p:nvSpPr>
          <p:cNvPr id="3" name="Content Placeholder 2"/>
          <p:cNvSpPr>
            <a:spLocks noGrp="1"/>
          </p:cNvSpPr>
          <p:nvPr>
            <p:ph idx="1"/>
          </p:nvPr>
        </p:nvSpPr>
        <p:spPr/>
        <p:txBody>
          <a:bodyPr/>
          <a:lstStyle/>
          <a:p>
            <a:r>
              <a:rPr lang="en-US" dirty="0"/>
              <a:t>Listeners: shows the results of the test execution. They can show results in a different format such as a tree, table, graph or log </a:t>
            </a:r>
            <a:r>
              <a:rPr lang="en-US" dirty="0" smtClean="0"/>
              <a:t>file</a:t>
            </a:r>
          </a:p>
          <a:p>
            <a:endParaRPr lang="en-US" dirty="0"/>
          </a:p>
        </p:txBody>
      </p:sp>
      <p:pic>
        <p:nvPicPr>
          <p:cNvPr id="4" name="Picture 3" descr="Complete Element reference for Jmeter"/>
          <p:cNvPicPr/>
          <p:nvPr/>
        </p:nvPicPr>
        <p:blipFill>
          <a:blip r:embed="rId2">
            <a:extLst>
              <a:ext uri="{28A0092B-C50C-407E-A947-70E740481C1C}">
                <a14:useLocalDpi xmlns:a14="http://schemas.microsoft.com/office/drawing/2010/main" val="0"/>
              </a:ext>
            </a:extLst>
          </a:blip>
          <a:srcRect/>
          <a:stretch>
            <a:fillRect/>
          </a:stretch>
        </p:blipFill>
        <p:spPr bwMode="auto">
          <a:xfrm>
            <a:off x="1835487" y="3276681"/>
            <a:ext cx="6575714" cy="2911186"/>
          </a:xfrm>
          <a:prstGeom prst="rect">
            <a:avLst/>
          </a:prstGeom>
          <a:noFill/>
          <a:ln>
            <a:noFill/>
          </a:ln>
        </p:spPr>
      </p:pic>
    </p:spTree>
    <p:extLst>
      <p:ext uri="{BB962C8B-B14F-4D97-AF65-F5344CB8AC3E}">
        <p14:creationId xmlns:p14="http://schemas.microsoft.com/office/powerpoint/2010/main" val="27637831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LOGIC COTROLLERS</a:t>
            </a:r>
            <a:endParaRPr lang="en-US" b="1" dirty="0"/>
          </a:p>
        </p:txBody>
      </p:sp>
      <p:sp>
        <p:nvSpPr>
          <p:cNvPr id="3" name="Content Placeholder 2"/>
          <p:cNvSpPr>
            <a:spLocks noGrp="1"/>
          </p:cNvSpPr>
          <p:nvPr>
            <p:ph idx="1"/>
          </p:nvPr>
        </p:nvSpPr>
        <p:spPr/>
        <p:txBody>
          <a:bodyPr/>
          <a:lstStyle/>
          <a:p>
            <a:r>
              <a:rPr lang="en-US" dirty="0"/>
              <a:t>Logic Controllers let you control the order of processing of Samplers in a Thread. Logic controllers can change the order of a request coming from any of their child elements</a:t>
            </a:r>
            <a:r>
              <a:rPr lang="en-US" dirty="0" smtClean="0"/>
              <a:t>.</a:t>
            </a:r>
          </a:p>
          <a:p>
            <a:r>
              <a:rPr lang="en-US" dirty="0" smtClean="0"/>
              <a:t> </a:t>
            </a:r>
            <a:r>
              <a:rPr lang="en-US" dirty="0"/>
              <a:t>Some examples are − </a:t>
            </a:r>
            <a:r>
              <a:rPr lang="en-US" dirty="0" smtClean="0"/>
              <a:t>For Each </a:t>
            </a:r>
            <a:r>
              <a:rPr lang="en-US" dirty="0"/>
              <a:t>Controller, While Controller, Loop Controller, IF Controller, Run Time Controller, Interleave Controller, Throughput Controller, and Run Once Controller</a:t>
            </a:r>
            <a:r>
              <a:rPr lang="en-US" dirty="0" smtClean="0"/>
              <a:t>.</a:t>
            </a:r>
            <a:endParaRPr lang="en-US" dirty="0"/>
          </a:p>
        </p:txBody>
      </p:sp>
    </p:spTree>
    <p:extLst>
      <p:ext uri="{BB962C8B-B14F-4D97-AF65-F5344CB8AC3E}">
        <p14:creationId xmlns:p14="http://schemas.microsoft.com/office/powerpoint/2010/main" val="34396143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LISTENERS</a:t>
            </a:r>
            <a:endParaRPr lang="en-US" dirty="0"/>
          </a:p>
        </p:txBody>
      </p:sp>
      <p:sp>
        <p:nvSpPr>
          <p:cNvPr id="3" name="Content Placeholder 2"/>
          <p:cNvSpPr>
            <a:spLocks noGrp="1"/>
          </p:cNvSpPr>
          <p:nvPr>
            <p:ph idx="1"/>
          </p:nvPr>
        </p:nvSpPr>
        <p:spPr>
          <a:xfrm>
            <a:off x="1676400" y="3695988"/>
            <a:ext cx="10515600" cy="4351338"/>
          </a:xfrm>
        </p:spPr>
        <p:txBody>
          <a:bodyPr/>
          <a:lstStyle/>
          <a:p>
            <a:endParaRPr lang="en-US" dirty="0"/>
          </a:p>
        </p:txBody>
      </p:sp>
      <p:sp>
        <p:nvSpPr>
          <p:cNvPr id="4" name="Rectangle 2"/>
          <p:cNvSpPr>
            <a:spLocks noChangeArrowheads="1"/>
          </p:cNvSpPr>
          <p:nvPr/>
        </p:nvSpPr>
        <p:spPr bwMode="auto">
          <a:xfrm>
            <a:off x="838200" y="18703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222222"/>
                </a:solidFill>
                <a:effectLst/>
                <a:latin typeface="Arial" panose="020B0604020202020204" pitchFamily="34" charset="0"/>
                <a:ea typeface="Times New Roman" panose="02020603050405020304" pitchFamily="18" charset="0"/>
                <a:cs typeface="Arial" panose="020B0604020202020204" pitchFamily="34" charset="0"/>
              </a:rPr>
              <a:t>View Result Tree show results of the user request in basic HTML format</a:t>
            </a:r>
            <a:endParaRPr kumimoji="0" lang="en-US" altLang="en-US" sz="1200" b="0" i="0" u="none" strike="noStrike" cap="none" normalizeH="0" baseline="0" smtClean="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3073" name="Picture 19" descr="Complete Element reference for Jme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17294"/>
            <a:ext cx="8943109" cy="33337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838200" y="6270913"/>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222222"/>
                </a:solidFill>
                <a:effectLst/>
                <a:latin typeface="Arial" panose="020B0604020202020204" pitchFamily="34" charset="0"/>
                <a:ea typeface="Times New Roman" panose="02020603050405020304" pitchFamily="18" charset="0"/>
                <a:cs typeface="Arial" panose="020B0604020202020204" pitchFamily="34" charset="0"/>
              </a:rPr>
              <a:t>Table Result show summary of a test result in table format</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16063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LISTENERS</a:t>
            </a:r>
            <a:endParaRPr lang="en-US" b="1" dirty="0"/>
          </a:p>
        </p:txBody>
      </p:sp>
      <p:pic>
        <p:nvPicPr>
          <p:cNvPr id="4" name="Content Placeholder 3" descr="Complete Element reference for Jmete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3044031" y="2868612"/>
            <a:ext cx="5048250" cy="2886075"/>
          </a:xfrm>
          <a:prstGeom prst="rect">
            <a:avLst/>
          </a:prstGeom>
          <a:noFill/>
          <a:ln>
            <a:noFill/>
          </a:ln>
        </p:spPr>
      </p:pic>
    </p:spTree>
    <p:extLst>
      <p:ext uri="{BB962C8B-B14F-4D97-AF65-F5344CB8AC3E}">
        <p14:creationId xmlns:p14="http://schemas.microsoft.com/office/powerpoint/2010/main" val="18069370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LISTENERS</a:t>
            </a:r>
            <a:endParaRPr lang="en-US" dirty="0"/>
          </a:p>
        </p:txBody>
      </p:sp>
      <p:sp>
        <p:nvSpPr>
          <p:cNvPr id="3" name="Content Placeholder 2"/>
          <p:cNvSpPr>
            <a:spLocks noGrp="1"/>
          </p:cNvSpPr>
          <p:nvPr>
            <p:ph idx="1"/>
          </p:nvPr>
        </p:nvSpPr>
        <p:spPr/>
        <p:txBody>
          <a:bodyPr>
            <a:normAutofit fontScale="25000" lnSpcReduction="20000"/>
          </a:bodyPr>
          <a:lstStyle/>
          <a:p>
            <a:pPr marL="0" indent="0">
              <a:buNone/>
            </a:pPr>
            <a:endParaRPr lang="en-US" sz="4300" dirty="0"/>
          </a:p>
          <a:p>
            <a:r>
              <a:rPr lang="en-US" sz="4300" dirty="0"/>
              <a:t>Sample Result Save Configuration</a:t>
            </a:r>
          </a:p>
          <a:p>
            <a:r>
              <a:rPr lang="en-US" sz="4300" dirty="0"/>
              <a:t>Graph Full Results</a:t>
            </a:r>
          </a:p>
          <a:p>
            <a:r>
              <a:rPr lang="en-US" sz="4300" dirty="0"/>
              <a:t>Graph Results</a:t>
            </a:r>
          </a:p>
          <a:p>
            <a:r>
              <a:rPr lang="en-US" sz="4300" dirty="0" smtClean="0"/>
              <a:t>Assertion </a:t>
            </a:r>
            <a:r>
              <a:rPr lang="en-US" sz="4300" dirty="0"/>
              <a:t>Results</a:t>
            </a:r>
          </a:p>
          <a:p>
            <a:r>
              <a:rPr lang="en-US" sz="4300" dirty="0"/>
              <a:t>View Results Tree</a:t>
            </a:r>
          </a:p>
          <a:p>
            <a:r>
              <a:rPr lang="en-US" sz="4300" dirty="0"/>
              <a:t>Aggregate Report</a:t>
            </a:r>
          </a:p>
          <a:p>
            <a:r>
              <a:rPr lang="en-US" sz="4300" dirty="0"/>
              <a:t>View Results in Table</a:t>
            </a:r>
          </a:p>
          <a:p>
            <a:r>
              <a:rPr lang="en-US" sz="4300" dirty="0"/>
              <a:t>Simple Data Writer</a:t>
            </a:r>
          </a:p>
          <a:p>
            <a:r>
              <a:rPr lang="en-US" sz="4300" dirty="0"/>
              <a:t>Monitor Results</a:t>
            </a:r>
          </a:p>
          <a:p>
            <a:r>
              <a:rPr lang="en-US" sz="4300" dirty="0"/>
              <a:t>Distribution Graph (alpha)</a:t>
            </a:r>
          </a:p>
          <a:p>
            <a:r>
              <a:rPr lang="en-US" sz="4300" dirty="0"/>
              <a:t>Aggregate Graph</a:t>
            </a:r>
          </a:p>
          <a:p>
            <a:endParaRPr lang="en-US" dirty="0"/>
          </a:p>
        </p:txBody>
      </p:sp>
    </p:spTree>
    <p:extLst>
      <p:ext uri="{BB962C8B-B14F-4D97-AF65-F5344CB8AC3E}">
        <p14:creationId xmlns:p14="http://schemas.microsoft.com/office/powerpoint/2010/main" val="19298528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Configuration Elements</a:t>
            </a:r>
            <a:endParaRPr lang="en-US" b="1" dirty="0"/>
          </a:p>
        </p:txBody>
      </p:sp>
      <p:sp>
        <p:nvSpPr>
          <p:cNvPr id="3" name="Content Placeholder 2"/>
          <p:cNvSpPr>
            <a:spLocks noGrp="1"/>
          </p:cNvSpPr>
          <p:nvPr>
            <p:ph idx="1"/>
          </p:nvPr>
        </p:nvSpPr>
        <p:spPr/>
        <p:txBody>
          <a:bodyPr/>
          <a:lstStyle/>
          <a:p>
            <a:r>
              <a:rPr lang="en-US" dirty="0" smtClean="0"/>
              <a:t>set </a:t>
            </a:r>
            <a:r>
              <a:rPr lang="en-US" dirty="0"/>
              <a:t>up defaults and variables for later use by samplers.</a:t>
            </a:r>
          </a:p>
          <a:p>
            <a:r>
              <a:rPr lang="en-US" dirty="0"/>
              <a:t>The figure below shows some commonly used configuration elements in JMeter</a:t>
            </a:r>
          </a:p>
          <a:p>
            <a:endParaRPr lang="en-US" dirty="0"/>
          </a:p>
        </p:txBody>
      </p:sp>
      <p:pic>
        <p:nvPicPr>
          <p:cNvPr id="4" name="Picture 3" descr="Complete Element reference for Jmeter"/>
          <p:cNvPicPr/>
          <p:nvPr/>
        </p:nvPicPr>
        <p:blipFill>
          <a:blip r:embed="rId2">
            <a:extLst>
              <a:ext uri="{28A0092B-C50C-407E-A947-70E740481C1C}">
                <a14:useLocalDpi xmlns:a14="http://schemas.microsoft.com/office/drawing/2010/main" val="0"/>
              </a:ext>
            </a:extLst>
          </a:blip>
          <a:srcRect/>
          <a:stretch>
            <a:fillRect/>
          </a:stretch>
        </p:blipFill>
        <p:spPr bwMode="auto">
          <a:xfrm>
            <a:off x="2047009" y="3640714"/>
            <a:ext cx="6019800" cy="1571625"/>
          </a:xfrm>
          <a:prstGeom prst="rect">
            <a:avLst/>
          </a:prstGeom>
          <a:noFill/>
          <a:ln>
            <a:noFill/>
          </a:ln>
        </p:spPr>
      </p:pic>
    </p:spTree>
    <p:extLst>
      <p:ext uri="{BB962C8B-B14F-4D97-AF65-F5344CB8AC3E}">
        <p14:creationId xmlns:p14="http://schemas.microsoft.com/office/powerpoint/2010/main" val="306764135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TIMERS AND ASSERTIONS </a:t>
            </a:r>
            <a:endParaRPr lang="en-US" dirty="0"/>
          </a:p>
        </p:txBody>
      </p:sp>
      <p:sp>
        <p:nvSpPr>
          <p:cNvPr id="3" name="Content Placeholder 2"/>
          <p:cNvSpPr>
            <a:spLocks noGrp="1"/>
          </p:cNvSpPr>
          <p:nvPr>
            <p:ph idx="1"/>
          </p:nvPr>
        </p:nvSpPr>
        <p:spPr/>
        <p:txBody>
          <a:bodyPr>
            <a:normAutofit/>
          </a:bodyPr>
          <a:lstStyle/>
          <a:p>
            <a:r>
              <a:rPr lang="en-US" dirty="0"/>
              <a:t>A</a:t>
            </a:r>
            <a:r>
              <a:rPr lang="en-US" dirty="0" smtClean="0"/>
              <a:t> </a:t>
            </a:r>
            <a:r>
              <a:rPr lang="en-US" dirty="0" err="1"/>
              <a:t>JMeter</a:t>
            </a:r>
            <a:r>
              <a:rPr lang="en-US" dirty="0"/>
              <a:t> thread sends requests without pausing between each sampler. </a:t>
            </a:r>
            <a:r>
              <a:rPr lang="en-US" dirty="0" smtClean="0"/>
              <a:t>We can </a:t>
            </a:r>
            <a:r>
              <a:rPr lang="en-US" dirty="0"/>
              <a:t>add a timer element which allows you to define a period to wait between each request</a:t>
            </a:r>
            <a:r>
              <a:rPr lang="en-US" dirty="0" smtClean="0"/>
              <a:t>.</a:t>
            </a:r>
            <a:endParaRPr lang="en-US" dirty="0"/>
          </a:p>
          <a:p>
            <a:r>
              <a:rPr lang="en-US" dirty="0"/>
              <a:t>Assertions </a:t>
            </a:r>
            <a:r>
              <a:rPr lang="en-US" dirty="0" smtClean="0"/>
              <a:t>allows </a:t>
            </a:r>
            <a:r>
              <a:rPr lang="en-US" dirty="0"/>
              <a:t>to include some validation test on the response of </a:t>
            </a:r>
            <a:r>
              <a:rPr lang="en-US" dirty="0" smtClean="0"/>
              <a:t>our </a:t>
            </a:r>
            <a:r>
              <a:rPr lang="en-US" dirty="0"/>
              <a:t>request made using a Sampler. Using assertions </a:t>
            </a:r>
            <a:r>
              <a:rPr lang="en-US" dirty="0" smtClean="0"/>
              <a:t>we can </a:t>
            </a:r>
            <a:r>
              <a:rPr lang="en-US" dirty="0"/>
              <a:t>prove that </a:t>
            </a:r>
            <a:r>
              <a:rPr lang="en-US" dirty="0" smtClean="0"/>
              <a:t>our </a:t>
            </a:r>
            <a:r>
              <a:rPr lang="en-US" dirty="0"/>
              <a:t>application is returning the correct data. </a:t>
            </a:r>
          </a:p>
        </p:txBody>
      </p:sp>
    </p:spTree>
    <p:extLst>
      <p:ext uri="{BB962C8B-B14F-4D97-AF65-F5344CB8AC3E}">
        <p14:creationId xmlns:p14="http://schemas.microsoft.com/office/powerpoint/2010/main" val="1871957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Queries</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3674589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THANKS FOR  VALUABLE TIME </a:t>
            </a:r>
            <a:endParaRPr lang="en-US" dirty="0"/>
          </a:p>
        </p:txBody>
      </p:sp>
      <p:sp>
        <p:nvSpPr>
          <p:cNvPr id="3" name="Content Placeholder 2"/>
          <p:cNvSpPr>
            <a:spLocks noGrp="1"/>
          </p:cNvSpPr>
          <p:nvPr>
            <p:ph idx="1"/>
          </p:nvPr>
        </p:nvSpPr>
        <p:spPr/>
        <p:txBody>
          <a:bodyPr/>
          <a:lstStyle/>
          <a:p>
            <a:pPr marL="0" indent="0">
              <a:buNone/>
            </a:pPr>
            <a:endParaRPr lang="en-US" dirty="0" smtClean="0"/>
          </a:p>
        </p:txBody>
      </p:sp>
    </p:spTree>
    <p:extLst>
      <p:ext uri="{BB962C8B-B14F-4D97-AF65-F5344CB8AC3E}">
        <p14:creationId xmlns:p14="http://schemas.microsoft.com/office/powerpoint/2010/main" val="399488616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F481B9A5FB824DA593033F7A608097" ma:contentTypeVersion="13" ma:contentTypeDescription="Create a new document." ma:contentTypeScope="" ma:versionID="e3e01adb46d38e26b49fa4d17eb2414c">
  <xsd:schema xmlns:xsd="http://www.w3.org/2001/XMLSchema" xmlns:xs="http://www.w3.org/2001/XMLSchema" xmlns:p="http://schemas.microsoft.com/office/2006/metadata/properties" xmlns:ns3="87876e96-af3d-4c5e-9cbb-b707a5b37a6a" xmlns:ns4="2f0c6e70-9b7d-43ec-97da-d94dd0e6c459" targetNamespace="http://schemas.microsoft.com/office/2006/metadata/properties" ma:root="true" ma:fieldsID="d372fa74fb62f9532a12a4954c139ab5" ns3:_="" ns4:_="">
    <xsd:import namespace="87876e96-af3d-4c5e-9cbb-b707a5b37a6a"/>
    <xsd:import namespace="2f0c6e70-9b7d-43ec-97da-d94dd0e6c45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ServiceDateTake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876e96-af3d-4c5e-9cbb-b707a5b37a6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0c6e70-9b7d-43ec-97da-d94dd0e6c45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1413C63-30B2-475B-B601-0A6B92E3EF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876e96-af3d-4c5e-9cbb-b707a5b37a6a"/>
    <ds:schemaRef ds:uri="2f0c6e70-9b7d-43ec-97da-d94dd0e6c45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9DF7D0-79E2-4AE8-AA21-FADEB1678EFE}">
  <ds:schemaRefs>
    <ds:schemaRef ds:uri="http://schemas.microsoft.com/sharepoint/v3/contenttype/forms"/>
  </ds:schemaRefs>
</ds:datastoreItem>
</file>

<file path=customXml/itemProps3.xml><?xml version="1.0" encoding="utf-8"?>
<ds:datastoreItem xmlns:ds="http://schemas.openxmlformats.org/officeDocument/2006/customXml" ds:itemID="{0E985BC2-F9B2-4646-895A-E02E59B22C07}">
  <ds:schemaRefs>
    <ds:schemaRef ds:uri="2f0c6e70-9b7d-43ec-97da-d94dd0e6c459"/>
    <ds:schemaRef ds:uri="87876e96-af3d-4c5e-9cbb-b707a5b37a6a"/>
    <ds:schemaRef ds:uri="http://schemas.microsoft.com/office/infopath/2007/PartnerControls"/>
    <ds:schemaRef ds:uri="http://schemas.microsoft.com/office/2006/documentManagement/types"/>
    <ds:schemaRef ds:uri="http://purl.org/dc/terms/"/>
    <ds:schemaRef ds:uri="http://purl.org/dc/elements/1.1/"/>
    <ds:schemaRef ds:uri="http://schemas.openxmlformats.org/package/2006/metadata/core-properties"/>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Ion Boardroom</Template>
  <TotalTime>895</TotalTime>
  <Words>1254</Words>
  <Application>Microsoft Office PowerPoint</Application>
  <PresentationFormat>Widescreen</PresentationFormat>
  <Paragraphs>113</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Century Gothic</vt:lpstr>
      <vt:lpstr>Times New Roman</vt:lpstr>
      <vt:lpstr>Wingdings 3</vt:lpstr>
      <vt:lpstr>Ion Boardroom</vt:lpstr>
      <vt:lpstr> J METER</vt:lpstr>
      <vt:lpstr>CONTENTS</vt:lpstr>
      <vt:lpstr>J METER</vt:lpstr>
      <vt:lpstr>J METER</vt:lpstr>
      <vt:lpstr>Protocols</vt:lpstr>
      <vt:lpstr>J Meter Features</vt:lpstr>
      <vt:lpstr>JMeter Features</vt:lpstr>
      <vt:lpstr>How JMETER Works</vt:lpstr>
      <vt:lpstr>Installation of J Meter</vt:lpstr>
      <vt:lpstr>Launch J Meter</vt:lpstr>
      <vt:lpstr>Start J Meter in Server Mode </vt:lpstr>
      <vt:lpstr>Start JMeter in command line mode</vt:lpstr>
      <vt:lpstr>Start JMeter in GUI Mode</vt:lpstr>
      <vt:lpstr>TEST PLAN</vt:lpstr>
      <vt:lpstr>Element in JMeter</vt:lpstr>
      <vt:lpstr>J METER ELEMENTS</vt:lpstr>
      <vt:lpstr>THREAD GROUP</vt:lpstr>
      <vt:lpstr>THREAD GROUP </vt:lpstr>
      <vt:lpstr>SAMPLERS</vt:lpstr>
      <vt:lpstr>SAMPLERS</vt:lpstr>
      <vt:lpstr>FTP REQUEST</vt:lpstr>
      <vt:lpstr>FTP REQUEST</vt:lpstr>
      <vt:lpstr>HTTP request</vt:lpstr>
      <vt:lpstr>LISTENERS</vt:lpstr>
      <vt:lpstr>LOGIC COTROLLERS</vt:lpstr>
      <vt:lpstr>LISTENERS</vt:lpstr>
      <vt:lpstr>LISTENERS</vt:lpstr>
      <vt:lpstr>LISTENERS</vt:lpstr>
      <vt:lpstr>Configuration Elements</vt:lpstr>
      <vt:lpstr>TIMERS AND ASSERTIONS </vt:lpstr>
      <vt:lpstr>Queries</vt:lpstr>
      <vt:lpstr>THANKS FOR  VALUABLE TIME </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 METER</dc:title>
  <dc:creator>Natarajan, Abirami (Cognizant)</dc:creator>
  <cp:lastModifiedBy>Natarajan, Abirami (Cognizant)</cp:lastModifiedBy>
  <cp:revision>33</cp:revision>
  <dcterms:created xsi:type="dcterms:W3CDTF">2022-03-07T05:23:55Z</dcterms:created>
  <dcterms:modified xsi:type="dcterms:W3CDTF">2022-04-04T06:17:11Z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0x01010099F481B9A5FB824DA593033F7A608097</vt:lpwstr>
  </property>
</Properties>
</file>